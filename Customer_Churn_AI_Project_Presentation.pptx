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213" y="1701800"/>
            <a:ext cx="9209334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213" y="2927350"/>
            <a:ext cx="9215682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441" y="6245225"/>
            <a:ext cx="2844059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4515" y="6245225"/>
            <a:ext cx="3859795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5325" y="6245225"/>
            <a:ext cx="2844059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4" y="1709738"/>
            <a:ext cx="1051286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4" y="4589463"/>
            <a:ext cx="10512862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174750"/>
            <a:ext cx="5383398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174750"/>
            <a:ext cx="5383398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099" y="365125"/>
            <a:ext cx="105128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99" y="1681163"/>
            <a:ext cx="515697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99" y="2505075"/>
            <a:ext cx="5156973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236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236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099" y="457200"/>
            <a:ext cx="39317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2367" y="987425"/>
            <a:ext cx="617059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99" y="2057400"/>
            <a:ext cx="39317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099" y="457200"/>
            <a:ext cx="39317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2367" y="987425"/>
            <a:ext cx="6170593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99" y="2057400"/>
            <a:ext cx="39317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190500"/>
            <a:ext cx="2742486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190500"/>
            <a:ext cx="802431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4" y="0"/>
            <a:ext cx="12197289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441" y="190500"/>
            <a:ext cx="10969943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441" y="1174750"/>
            <a:ext cx="10969943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441" y="6245225"/>
            <a:ext cx="2844059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4515" y="6245225"/>
            <a:ext cx="385979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5325" y="6245225"/>
            <a:ext cx="2844059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3115" y="0"/>
            <a:ext cx="9209405" cy="1534795"/>
          </a:xfrm>
        </p:spPr>
        <p:txBody>
          <a:bodyPr/>
          <a:lstStyle/>
          <a:p>
            <a:r>
              <a:rPr sz="4000">
                <a:solidFill>
                  <a:srgbClr val="FF0000"/>
                </a:solidFill>
                <a:latin typeface="Arial Black" panose="020B0A04020102020204" charset="0"/>
                <a:cs typeface="Arial Black" panose="020B0A04020102020204" charset="0"/>
              </a:rPr>
              <a:t>Customer Churn Prediction Using Machine Learning Models</a:t>
            </a:r>
            <a:endParaRPr sz="4000">
              <a:solidFill>
                <a:srgbClr val="FF0000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3115" y="1595755"/>
            <a:ext cx="9215755" cy="1111885"/>
          </a:xfrm>
        </p:spPr>
        <p:txBody>
          <a:bodyPr>
            <a:normAutofit fontScale="25000"/>
          </a:bodyPr>
          <a:lstStyle/>
          <a:p>
            <a:r>
              <a:rPr>
                <a:solidFill>
                  <a:srgbClr val="FF0000"/>
                </a:solidFill>
                <a:latin typeface="Arial Black" panose="020B0A04020102020204" charset="0"/>
                <a:cs typeface="Arial Black" panose="020B0A04020102020204" charset="0"/>
              </a:rPr>
              <a:t>AI Mini Project</a:t>
            </a:r>
            <a:endParaRPr lang="en-US" sz="8000">
              <a:solidFill>
                <a:srgbClr val="FF0000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en-US" altLang="en-GB" sz="8000"/>
              <a:t>Group 3:</a:t>
            </a:r>
            <a:endParaRPr lang="en-US" altLang="en-GB" sz="8000"/>
          </a:p>
          <a:p>
            <a:r>
              <a:rPr lang="en-US" altLang="en-GB" sz="8000"/>
              <a:t>1.Henry mumo - BDSA/MK/4398/09/25</a:t>
            </a:r>
            <a:endParaRPr lang="en-US" altLang="en-GB" sz="8000"/>
          </a:p>
          <a:p>
            <a:r>
              <a:rPr lang="en-US" sz="8000">
                <a:sym typeface="+mn-ea"/>
              </a:rPr>
              <a:t>2.</a:t>
            </a:r>
            <a:r>
              <a:rPr sz="8000">
                <a:sym typeface="+mn-ea"/>
              </a:rPr>
              <a:t>Sean Simiyu</a:t>
            </a:r>
            <a:r>
              <a:rPr lang="en-US" sz="8000">
                <a:sym typeface="+mn-ea"/>
              </a:rPr>
              <a:t> - BDSA/MK/3667/09/25</a:t>
            </a:r>
            <a:endParaRPr lang="en-US" sz="8000">
              <a:sym typeface="+mn-ea"/>
            </a:endParaRPr>
          </a:p>
          <a:p>
            <a:r>
              <a:rPr lang="en-US" altLang="en-GB" sz="8000"/>
              <a:t>3.Shannel Kerebi BDSA/MK/4424/09/25</a:t>
            </a:r>
            <a:endParaRPr lang="en-US" altLang="en-GB" sz="8000"/>
          </a:p>
          <a:p>
            <a:r>
              <a:rPr lang="en-US" altLang="en-GB" sz="8000"/>
              <a:t>4.Gilmer kipkoech BDSA/MK/3023/09/25</a:t>
            </a:r>
            <a:endParaRPr lang="en-US" altLang="en-GB" sz="8000"/>
          </a:p>
          <a:p>
            <a:r>
              <a:rPr lang="en-US" altLang="en-GB" sz="8000"/>
              <a:t>5.Juliet Gitonga - BDSA/MK/4197/09/25</a:t>
            </a:r>
            <a:endParaRPr lang="en-US" altLang="en-GB" sz="8000"/>
          </a:p>
          <a:p>
            <a:r>
              <a:rPr lang="en-US" altLang="en-GB" sz="8000"/>
              <a:t>6.Justus Lemik - BDSA/MK/4049/09/25</a:t>
            </a:r>
            <a:endParaRPr lang="en-US" altLang="en-GB" sz="8000"/>
          </a:p>
          <a:p>
            <a:r>
              <a:rPr lang="en-US" altLang="en-GB" sz="8000"/>
              <a:t>7.Wilig Leleruk - BDSA/MK/3427/09/25</a:t>
            </a:r>
            <a:endParaRPr lang="en-US" altLang="en-GB" sz="8000"/>
          </a:p>
          <a:p>
            <a:r>
              <a:rPr lang="en-US" altLang="en-GB" sz="8000"/>
              <a:t>8.Hassan- BDSA/MK4318/09/25</a:t>
            </a:r>
            <a:endParaRPr lang="en-US" altLang="en-GB" sz="8000"/>
          </a:p>
          <a:p>
            <a:r>
              <a:rPr lang="en-US" altLang="en-GB" sz="8000"/>
              <a:t>9.Brian Muriithi - BDSA/M/5054/09/25</a:t>
            </a:r>
            <a:endParaRPr lang="en-US" altLang="en-GB" sz="8000"/>
          </a:p>
          <a:p>
            <a:endParaRPr sz="8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>
                <a:solidFill>
                  <a:srgbClr val="FF0000"/>
                </a:solidFill>
                <a:latin typeface="Arial Black" panose="020B0A04020102020204" charset="0"/>
                <a:cs typeface="Arial Black" panose="020B0A04020102020204" charset="0"/>
              </a:rPr>
              <a:t>Problem Statement</a:t>
            </a:r>
            <a:endParaRPr>
              <a:solidFill>
                <a:srgbClr val="FF0000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33450"/>
            <a:ext cx="11548110" cy="64096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000"/>
            </a:pPr>
            <a:r>
              <a:t>Predict customer churn using machine learning.</a:t>
            </a:r>
          </a:p>
          <a:p>
            <a:pPr algn="l">
              <a:defRPr sz="2000"/>
            </a:pPr>
            <a:r>
              <a:t>Compare Logistic Regression, Decision Tree and Random Forest.</a:t>
            </a:r>
          </a:p>
          <a:p>
            <a:pPr algn="l">
              <a:defRPr sz="2000"/>
            </a:pPr>
            <a:r>
              <a:t>Identify the best-performing model.</a:t>
            </a: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r>
              <a:rPr lang="en-US" altLang="en-GB"/>
              <a:t>Background</a:t>
            </a: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r>
              <a:rPr lang="en-US" altLang="en-GB"/>
              <a:t>Customer churn occurs when customers stop using a company's products or services. High customer churn leads to reduced revenue, increased marketing costs, and lower customer loyalty. Businesses need a way to identify customers who are likely to leave before it happens.</a:t>
            </a: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r>
              <a:rPr lang="en-US" altLang="en-GB"/>
              <a:t>Problem</a:t>
            </a: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r>
              <a:rPr lang="en-US" altLang="en-GB"/>
              <a:t>Many companies struggle to accurately predict which customers are at risk of churning, making it difficult to take timely action to retain them.</a:t>
            </a: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r>
              <a:rPr lang="en-US" altLang="en-GB"/>
              <a:t>Project Objectives</a:t>
            </a: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r>
              <a:rPr lang="en-US" altLang="en-GB"/>
              <a:t>• Predict customer churn using machine learning techniques.</a:t>
            </a:r>
            <a:endParaRPr lang="en-US" altLang="en-GB"/>
          </a:p>
          <a:p>
            <a:pPr algn="l">
              <a:defRPr sz="2000"/>
            </a:pPr>
            <a:r>
              <a:rPr lang="en-US" altLang="en-GB"/>
              <a:t>• Compare the performance of Logistic Regression, Decision Tree, and Random Forest models.</a:t>
            </a:r>
            <a:endParaRPr lang="en-US" altLang="en-GB"/>
          </a:p>
          <a:p>
            <a:pPr algn="l">
              <a:defRPr sz="2000"/>
            </a:pPr>
            <a:r>
              <a:rPr lang="en-US" altLang="en-GB"/>
              <a:t>• Identify the model that provides the most accurate predictions.</a:t>
            </a:r>
            <a:endParaRPr lang="en-US" altLang="en-GB"/>
          </a:p>
          <a:p>
            <a:pPr algn="l">
              <a:defRPr sz="2000"/>
            </a:pPr>
            <a:r>
              <a:rPr lang="en-US" altLang="en-GB"/>
              <a:t>• Provide insights that can help businesses improve customer retention.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br/>
            <a:br>
              <a:rPr lang="en-US" altLang="en-GB"/>
            </a:br>
            <a:r>
              <a:rPr lang="en-US" altLang="en-GB">
                <a:solidFill>
                  <a:srgbClr val="FF0000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DATASET OVERVIEW</a:t>
            </a:r>
            <a:br>
              <a:rPr lang="en-US" altLang="en-GB">
                <a:sym typeface="+mn-ea"/>
              </a:rPr>
            </a:br>
            <a:r>
              <a:rPr>
                <a:sym typeface="+mn-ea"/>
              </a:rPr>
              <a:t>Dataset</a:t>
            </a:r>
            <a:br>
              <a:rPr>
                <a:sym typeface="+mn-ea"/>
              </a:rPr>
            </a:br>
            <a:endParaRPr lang="en-US" altLang="en-GB"/>
          </a:p>
        </p:txBody>
      </p:sp>
      <p:sp>
        <p:nvSpPr>
          <p:cNvPr id="3" name="TextBox 2"/>
          <p:cNvSpPr txBox="1"/>
          <p:nvPr/>
        </p:nvSpPr>
        <p:spPr>
          <a:xfrm>
            <a:off x="495935" y="1462405"/>
            <a:ext cx="11692890" cy="5015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lang="en-US" altLang="en-GB"/>
              <a:t>This project uses the Telco Customer Churn dataset, which contains customer information and their churn status. The dataset is used to train machine learning models to predict whether a customer is likely to leave the company's services.</a:t>
            </a: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r>
              <a:rPr lang="en-US" altLang="en-GB"/>
              <a:t>Dataset Information:</a:t>
            </a:r>
            <a:endParaRPr lang="en-US" altLang="en-GB"/>
          </a:p>
          <a:p>
            <a:pPr algn="l">
              <a:defRPr sz="2000"/>
            </a:pPr>
          </a:p>
          <a:p>
            <a:pPr algn="l">
              <a:defRPr sz="2000"/>
            </a:pPr>
            <a:r>
              <a:t>~7,043 customer records</a:t>
            </a:r>
          </a:p>
          <a:p>
            <a:pPr algn="l">
              <a:defRPr sz="2000"/>
            </a:pPr>
            <a:r>
              <a:t>Target: Churn (Yes/No)</a:t>
            </a:r>
          </a:p>
          <a:p>
            <a:pPr algn="l">
              <a:defRPr sz="2000"/>
            </a:pPr>
            <a:r>
              <a:t>Features include Tenure, Contract Type, Internet Service, Monthly Charges.</a:t>
            </a:r>
          </a:p>
          <a:p>
            <a:pPr algn="l">
              <a:defRPr sz="2000"/>
            </a:pPr>
          </a:p>
          <a:p>
            <a:pPr algn="l">
              <a:defRPr sz="2000"/>
            </a:pPr>
            <a:r>
              <a:rPr lang="en-US" altLang="en-GB"/>
              <a:t>Why this Dataset?</a:t>
            </a: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r>
              <a:rPr lang="en-US" altLang="en-GB"/>
              <a:t>• It contains real customer behaviour data.</a:t>
            </a:r>
            <a:endParaRPr lang="en-US" altLang="en-GB"/>
          </a:p>
          <a:p>
            <a:pPr algn="l">
              <a:defRPr sz="2000"/>
            </a:pPr>
            <a:r>
              <a:rPr lang="en-US" altLang="en-GB"/>
              <a:t>• It is suitable for binary classification problems.</a:t>
            </a:r>
            <a:endParaRPr lang="en-US" altLang="en-GB"/>
          </a:p>
          <a:p>
            <a:pPr algn="l">
              <a:defRPr sz="2000"/>
            </a:pPr>
            <a:r>
              <a:rPr lang="en-US" altLang="en-GB"/>
              <a:t>• It helps identify customers who are likely to churn, enabling businesses to improve customer retention strategies.</a:t>
            </a:r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>
                <a:solidFill>
                  <a:srgbClr val="FF0000"/>
                </a:solidFill>
                <a:latin typeface="Arial Black" panose="020B0A04020102020204" charset="0"/>
                <a:cs typeface="Arial Black" panose="020B0A04020102020204" charset="0"/>
              </a:rPr>
              <a:t>Data Preprocessing</a:t>
            </a:r>
            <a:endParaRPr>
              <a:solidFill>
                <a:srgbClr val="FF0000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1621770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lang="en-US" altLang="en-GB"/>
              <a:t>Before training the machine learning models, the dataset was prepared through several preprocessing steps to improve data quality and model performance.</a:t>
            </a: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r>
              <a:rPr lang="en-US" altLang="en-GB"/>
              <a:t>Data Preprocessing Steps:</a:t>
            </a: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marL="342900" indent="-342900" algn="l">
              <a:buFont typeface="Arial" panose="020B0604020202020204" pitchFamily="34" charset="0"/>
              <a:buChar char="•"/>
              <a:defRPr sz="2000"/>
            </a:pPr>
            <a:r>
              <a:t>Data cleaning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000"/>
            </a:pPr>
            <a:r>
              <a:t>Handled missing values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000"/>
            </a:pPr>
            <a:r>
              <a:t>Encoded categorical variables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000"/>
            </a:pPr>
            <a:r>
              <a:t>Train-test split</a:t>
            </a:r>
          </a:p>
          <a:p>
            <a:pPr indent="0" algn="l">
              <a:buFont typeface="Arial" panose="020B0604020202020204" pitchFamily="34" charset="0"/>
              <a:buNone/>
              <a:defRPr sz="2000"/>
            </a:pPr>
            <a:endParaRPr lang="en-US" altLang="en-GB"/>
          </a:p>
          <a:p>
            <a:pPr indent="0" algn="l">
              <a:buFont typeface="Arial" panose="020B0604020202020204" pitchFamily="34" charset="0"/>
              <a:buNone/>
              <a:defRPr sz="2000"/>
            </a:pPr>
            <a:r>
              <a:rPr lang="en-US" altLang="en-GB"/>
              <a:t>Proper preprocessing improves data quality, reduces errors, and helps machine learning models learn more effectively, resulting in better prediction accuracy.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>
                <a:solidFill>
                  <a:srgbClr val="FF0000"/>
                </a:solidFill>
                <a:latin typeface="Arial Black" panose="020B0A04020102020204" charset="0"/>
                <a:cs typeface="Arial Black" panose="020B0A04020102020204" charset="0"/>
              </a:rPr>
              <a:t>Methods</a:t>
            </a:r>
            <a:endParaRPr>
              <a:solidFill>
                <a:srgbClr val="FF0000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61950" y="968375"/>
            <a:ext cx="6096000" cy="1784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defRPr sz="2000"/>
            </a:pPr>
            <a:r>
              <a:rPr>
                <a:sym typeface="+mn-ea"/>
              </a:rPr>
              <a:t>Models: Logistic Regression, Decision Tree, Random Forest</a:t>
            </a:r>
            <a:endParaRPr>
              <a:sym typeface="+mn-ea"/>
            </a:endParaRPr>
          </a:p>
          <a:p>
            <a:pPr>
              <a:defRPr sz="2000"/>
            </a:pPr>
            <a:r>
              <a:rPr lang="en-US" altLang="en-GB"/>
              <a:t>To determine the best-performing model, each machine learning algorithm was evaluated using four performance metrics: Accuracy, Precision, Recall, and F1 Score.</a:t>
            </a:r>
            <a:endParaRPr lang="en-US" altLang="en-GB"/>
          </a:p>
          <a:p>
            <a:pPr>
              <a:defRPr sz="2000"/>
            </a:pPr>
            <a:endParaRPr lang="en-US" altLang="en-GB"/>
          </a:p>
          <a:p>
            <a:pPr>
              <a:defRPr sz="2000"/>
            </a:pPr>
            <a:r>
              <a:rPr lang="en-US" altLang="en-GB"/>
              <a:t>Evaluation Metrics</a:t>
            </a:r>
            <a:endParaRPr lang="en-US" altLang="en-GB"/>
          </a:p>
          <a:p>
            <a:pPr>
              <a:defRPr sz="2000"/>
            </a:pPr>
            <a:endParaRPr lang="en-US" altLang="en-GB"/>
          </a:p>
          <a:p>
            <a:pPr>
              <a:defRPr sz="2000"/>
            </a:pPr>
            <a:r>
              <a:rPr lang="en-US" altLang="en-GB"/>
              <a:t>• Accuracy – Measures the overall percentage of correct predictions.</a:t>
            </a:r>
            <a:endParaRPr lang="en-US" altLang="en-GB"/>
          </a:p>
          <a:p>
            <a:pPr>
              <a:defRPr sz="2000"/>
            </a:pPr>
            <a:r>
              <a:rPr lang="en-US" altLang="en-GB"/>
              <a:t>• Precision – Measures how many customers predicted to churn actually churned.</a:t>
            </a:r>
            <a:endParaRPr lang="en-US" altLang="en-GB"/>
          </a:p>
          <a:p>
            <a:pPr>
              <a:defRPr sz="2000"/>
            </a:pPr>
            <a:r>
              <a:rPr lang="en-US" altLang="en-GB"/>
              <a:t>• Recall – Measures how many actual churning customers were correctly identified.</a:t>
            </a:r>
            <a:endParaRPr lang="en-US" altLang="en-GB"/>
          </a:p>
          <a:p>
            <a:pPr>
              <a:defRPr sz="2000"/>
            </a:pPr>
            <a:r>
              <a:rPr lang="en-US" altLang="en-GB"/>
              <a:t>• F1 Score – A balanced measure that combines Precision and Recall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>
                <a:solidFill>
                  <a:srgbClr val="FF0000"/>
                </a:solidFill>
                <a:latin typeface="Arial Black" panose="020B0A04020102020204" charset="0"/>
                <a:cs typeface="Arial Black" panose="020B0A04020102020204" charset="0"/>
              </a:rPr>
              <a:t>Results</a:t>
            </a:r>
            <a:endParaRPr>
              <a:solidFill>
                <a:srgbClr val="FF0000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6174740" cy="40925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/>
            </a:pPr>
            <a:r>
              <a:t>Decision Tree achieved the best overall performance.</a:t>
            </a:r>
          </a:p>
          <a:p>
            <a:pPr algn="l">
              <a:defRPr sz="2000"/>
            </a:pPr>
            <a:r>
              <a:t>Accuracy: LR 40.00% | DT 51.67% | RF 46.67%</a:t>
            </a:r>
          </a:p>
          <a:p>
            <a:pPr algn="l">
              <a:defRPr sz="2000"/>
            </a:pPr>
            <a:r>
              <a:t>F1 Score: LR 28.00% | DT 47.27% | RF 33.33%</a:t>
            </a:r>
          </a:p>
          <a:p>
            <a:pPr algn="l">
              <a:defRPr sz="2000"/>
            </a:pPr>
          </a:p>
          <a:p>
            <a:pPr algn="l">
              <a:defRPr sz="2000"/>
            </a:pPr>
          </a:p>
          <a:p>
            <a:pPr algn="l">
              <a:defRPr sz="2000"/>
            </a:pPr>
          </a:p>
          <a:p>
            <a:pPr algn="l">
              <a:defRPr sz="2000"/>
            </a:pPr>
          </a:p>
          <a:p>
            <a:pPr algn="l">
              <a:defRPr sz="2000"/>
            </a:pPr>
          </a:p>
          <a:p>
            <a:pPr algn="l">
              <a:defRPr sz="2000"/>
            </a:pPr>
          </a:p>
          <a:p>
            <a:pPr algn="l">
              <a:defRPr sz="2000"/>
            </a:pPr>
          </a:p>
          <a:p>
            <a:pPr algn="l">
              <a:defRPr sz="2000"/>
            </a:pPr>
          </a:p>
          <a:p>
            <a:pPr algn="l">
              <a:defRPr sz="2000"/>
            </a:pPr>
          </a:p>
          <a:p>
            <a:pPr algn="l">
              <a:defRPr sz="2000"/>
            </a:pPr>
            <a:endParaRPr lang="en-US" altLang="en-GB"/>
          </a:p>
        </p:txBody>
      </p:sp>
      <p:pic>
        <p:nvPicPr>
          <p:cNvPr id="4" name="Picture 3" descr="accuracy_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097280"/>
            <a:ext cx="4846320" cy="29077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lang="en-US">
                <a:solidFill>
                  <a:srgbClr val="FF0000"/>
                </a:solidFill>
                <a:latin typeface="Arial Black" panose="020B0A04020102020204" charset="0"/>
                <a:cs typeface="Arial Black" panose="020B0A04020102020204" charset="0"/>
              </a:rPr>
              <a:t>DEMONSTRATION</a:t>
            </a:r>
            <a:r>
              <a:rPr lang="en-US"/>
              <a:t> 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40080" y="578485"/>
            <a:ext cx="11549380" cy="84296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000"/>
            </a:pPr>
            <a:r>
              <a:rPr lang="en-US" altLang="en-GB"/>
              <a:t>The trained machine learning model was tested using customer information to predict whether a customer is likely to churn.</a:t>
            </a:r>
            <a:endParaRPr lang="en-US" altLang="en-GB"/>
          </a:p>
          <a:p>
            <a:pPr algn="l">
              <a:defRPr sz="2000"/>
            </a:pPr>
            <a:r>
              <a:rPr lang="en-US" altLang="en-GB"/>
              <a:t>Prediction Workflow:</a:t>
            </a:r>
            <a:endParaRPr lang="en-US" altLang="en-GB"/>
          </a:p>
          <a:p>
            <a:pPr algn="l">
              <a:defRPr sz="2000"/>
            </a:pPr>
            <a:r>
              <a:rPr lang="en-US" altLang="en-GB"/>
              <a:t>Customer Information</a:t>
            </a:r>
            <a:endParaRPr lang="en-US" altLang="en-GB"/>
          </a:p>
          <a:p>
            <a:pPr algn="l">
              <a:defRPr sz="2000"/>
            </a:pPr>
            <a:r>
              <a:rPr lang="en-US" altLang="en-GB"/>
              <a:t>        </a:t>
            </a:r>
            <a:r>
              <a:rPr lang="en-US" altLang="en-US"/>
              <a:t>↓</a:t>
            </a:r>
            <a:endParaRPr lang="en-US" altLang="en-US"/>
          </a:p>
          <a:p>
            <a:pPr algn="l">
              <a:defRPr sz="2000"/>
            </a:pPr>
            <a:r>
              <a:rPr lang="en-US" altLang="en-GB"/>
              <a:t>Data Preprocessing</a:t>
            </a:r>
            <a:endParaRPr lang="en-US" altLang="en-GB"/>
          </a:p>
          <a:p>
            <a:pPr algn="l">
              <a:defRPr sz="2000"/>
            </a:pPr>
            <a:r>
              <a:rPr lang="en-US" altLang="en-GB"/>
              <a:t>        </a:t>
            </a:r>
            <a:r>
              <a:rPr lang="en-US" altLang="en-US"/>
              <a:t>↓</a:t>
            </a:r>
            <a:endParaRPr lang="en-US" altLang="en-US"/>
          </a:p>
          <a:p>
            <a:pPr algn="l">
              <a:defRPr sz="2000"/>
            </a:pPr>
            <a:r>
              <a:rPr lang="en-US" altLang="en-GB"/>
              <a:t>Selected Machine Learning Model</a:t>
            </a:r>
            <a:endParaRPr lang="en-US" altLang="en-GB"/>
          </a:p>
          <a:p>
            <a:pPr algn="l">
              <a:defRPr sz="2000"/>
            </a:pPr>
            <a:r>
              <a:rPr lang="en-US" altLang="en-GB"/>
              <a:t>        </a:t>
            </a:r>
            <a:r>
              <a:rPr lang="en-US" altLang="en-US"/>
              <a:t>↓</a:t>
            </a:r>
            <a:endParaRPr lang="en-US" altLang="en-US"/>
          </a:p>
          <a:p>
            <a:pPr algn="l">
              <a:defRPr sz="2000"/>
            </a:pPr>
            <a:r>
              <a:rPr lang="en-US" altLang="en-GB"/>
              <a:t>Prediction</a:t>
            </a:r>
            <a:endParaRPr lang="en-US" altLang="en-GB"/>
          </a:p>
          <a:p>
            <a:pPr algn="l">
              <a:defRPr sz="2000"/>
            </a:pPr>
            <a:r>
              <a:rPr lang="en-US" altLang="en-GB"/>
              <a:t>        </a:t>
            </a:r>
            <a:r>
              <a:rPr lang="en-US" altLang="en-US"/>
              <a:t>↓</a:t>
            </a:r>
            <a:endParaRPr lang="en-US" altLang="en-US"/>
          </a:p>
          <a:p>
            <a:pPr algn="l">
              <a:defRPr sz="2000"/>
            </a:pPr>
            <a:r>
              <a:rPr lang="en-US" altLang="en-GB"/>
              <a:t>Churn (Yes/No)</a:t>
            </a:r>
            <a:endParaRPr lang="en-US" altLang="en-GB"/>
          </a:p>
          <a:p>
            <a:pPr algn="l">
              <a:defRPr sz="2000"/>
            </a:pPr>
            <a:r>
              <a:rPr lang="en-US" altLang="en-GB">
                <a:sym typeface="+mn-ea"/>
              </a:rPr>
              <a:t>Input:</a:t>
            </a:r>
            <a:endParaRPr lang="en-US" altLang="en-GB">
              <a:sym typeface="+mn-ea"/>
            </a:endParaRPr>
          </a:p>
          <a:p>
            <a:pPr algn="l">
              <a:defRPr sz="2000"/>
            </a:pPr>
            <a:r>
              <a:rPr lang="en-US" altLang="en-GB">
                <a:sym typeface="+mn-ea"/>
              </a:rPr>
              <a:t>• Contract Type:</a:t>
            </a:r>
            <a:endParaRPr lang="en-US" altLang="en-GB">
              <a:sym typeface="+mn-ea"/>
            </a:endParaRPr>
          </a:p>
          <a:p>
            <a:pPr algn="l">
              <a:defRPr sz="2000"/>
            </a:pPr>
            <a:r>
              <a:rPr lang="en-US" altLang="en-GB">
                <a:sym typeface="+mn-ea"/>
              </a:rPr>
              <a:t>• Tenure: </a:t>
            </a:r>
            <a:endParaRPr lang="en-US" altLang="en-GB"/>
          </a:p>
          <a:p>
            <a:pPr algn="l">
              <a:defRPr sz="2000"/>
            </a:pPr>
            <a:r>
              <a:rPr lang="en-US" altLang="en-GB">
                <a:sym typeface="+mn-ea"/>
              </a:rPr>
              <a:t>• Monthly Charges:</a:t>
            </a:r>
            <a:endParaRPr lang="en-US" altLang="en-GB"/>
          </a:p>
          <a:p>
            <a:pPr algn="l">
              <a:defRPr sz="2000"/>
            </a:pPr>
            <a:r>
              <a:rPr lang="en-US" altLang="en-GB">
                <a:sym typeface="+mn-ea"/>
              </a:rPr>
              <a:t>• Internet Service:</a:t>
            </a:r>
            <a:endParaRPr lang="en-US" altLang="en-GB"/>
          </a:p>
          <a:p>
            <a:pPr algn="l">
              <a:defRPr sz="2000"/>
            </a:pPr>
            <a:r>
              <a:rPr lang="en-US" altLang="en-GB"/>
              <a:t>Output:</a:t>
            </a:r>
            <a:endParaRPr lang="en-US" altLang="en-GB"/>
          </a:p>
          <a:p>
            <a:pPr algn="l">
              <a:defRPr sz="2000"/>
            </a:pPr>
            <a:r>
              <a:rPr lang="en-US" altLang="en-GB"/>
              <a:t>Prediction: Churn = Yes</a:t>
            </a:r>
            <a:endParaRPr lang="en-US" altLang="en-GB"/>
          </a:p>
          <a:p>
            <a:pPr algn="l">
              <a:defRPr sz="2000"/>
            </a:pPr>
            <a:r>
              <a:rPr lang="en-US" altLang="en-GB"/>
              <a:t>This demonstrates how the model can identify customers who are at risk of leaving, allowing businesses to take preventive action.</a:t>
            </a: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lang="en-US">
                <a:solidFill>
                  <a:srgbClr val="FF0000"/>
                </a:solidFill>
                <a:latin typeface="Arial Black" panose="020B0A04020102020204" charset="0"/>
                <a:cs typeface="Arial Black" panose="020B0A04020102020204" charset="0"/>
              </a:rPr>
              <a:t>LEARNINGS</a:t>
            </a:r>
            <a:endParaRPr lang="en-US">
              <a:solidFill>
                <a:srgbClr val="FF0000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940290" cy="3476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/>
            </a:pPr>
            <a:r>
              <a:rPr lang="en-US" altLang="en-GB"/>
              <a:t>Throughout this project, we learnt:</a:t>
            </a: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r>
              <a:rPr lang="en-US" altLang="en-GB"/>
              <a:t>• How to collect, clean, and preprocess data for machine learning.</a:t>
            </a: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r>
              <a:rPr lang="en-US" altLang="en-GB"/>
              <a:t>• How to train and compare multiple classification models.</a:t>
            </a: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r>
              <a:rPr lang="en-US" altLang="en-GB"/>
              <a:t>• How to evaluate model performance using Accuracy, Precision, Recall, and F1 Score.</a:t>
            </a: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r>
              <a:rPr lang="en-US" altLang="en-GB"/>
              <a:t>• The importance of selecting the most suitable model based on evaluation metrics.</a:t>
            </a: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r>
              <a:rPr lang="en-US" altLang="en-GB"/>
              <a:t>• How machine learning can support real-world business decision-making,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sz="3200">
                <a:solidFill>
                  <a:srgbClr val="FF0000"/>
                </a:solidFill>
                <a:latin typeface="Arial Black" panose="020B0A04020102020204" charset="0"/>
                <a:cs typeface="Arial Black" panose="020B0A04020102020204" charset="0"/>
              </a:rPr>
              <a:t>Conclusion</a:t>
            </a:r>
            <a:endParaRPr sz="3200">
              <a:solidFill>
                <a:srgbClr val="FF0000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1548110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lang="en-US" altLang="en-GB"/>
              <a:t>This project successfully developed and evaluated three machine learning models for predicting customer churn.</a:t>
            </a: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r>
              <a:rPr lang="en-US" altLang="en-GB"/>
              <a:t>After comparing the models using Accuracy, Precision, Recall, and F1 Score, the Decision Tree model achieved the best overall performance with:</a:t>
            </a:r>
            <a:endParaRPr lang="en-US" altLang="en-GB"/>
          </a:p>
          <a:p>
            <a:pPr algn="l">
              <a:defRPr sz="2000"/>
            </a:pPr>
            <a:endParaRPr lang="en-US" altLang="en-GB"/>
          </a:p>
          <a:p>
            <a:pPr algn="l">
              <a:defRPr sz="2000"/>
            </a:pPr>
            <a:r>
              <a:rPr lang="en-US" altLang="en-GB"/>
              <a:t>• Accuracy: 51.67%</a:t>
            </a:r>
            <a:endParaRPr lang="en-US" altLang="en-GB"/>
          </a:p>
          <a:p>
            <a:pPr algn="l">
              <a:defRPr sz="2000"/>
            </a:pPr>
            <a:r>
              <a:rPr lang="en-US" altLang="en-GB"/>
              <a:t>• Precision: 44.83%</a:t>
            </a:r>
            <a:endParaRPr lang="en-US" altLang="en-GB"/>
          </a:p>
          <a:p>
            <a:pPr algn="l">
              <a:defRPr sz="2000"/>
            </a:pPr>
            <a:r>
              <a:rPr lang="en-US" altLang="en-GB"/>
              <a:t>• Recall: 50.00%</a:t>
            </a:r>
            <a:endParaRPr lang="en-US" altLang="en-GB"/>
          </a:p>
          <a:p>
            <a:pPr algn="l">
              <a:defRPr sz="2000"/>
            </a:pPr>
            <a:r>
              <a:rPr lang="en-US" altLang="en-GB"/>
              <a:t>• F1 Score: 47.27%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4284</Words>
  <Application>WPS Presentation</Application>
  <PresentationFormat>On-screen Show (4:3)</PresentationFormat>
  <Paragraphs>146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Arial Black</vt:lpstr>
      <vt:lpstr>Algerian</vt:lpstr>
      <vt:lpstr>Arial Rounded MT Bold</vt:lpstr>
      <vt:lpstr>Bahnschrift SemiBold SemiCondensed</vt:lpstr>
      <vt:lpstr>Bauhaus 93</vt:lpstr>
      <vt:lpstr>Arial Narrow</vt:lpstr>
      <vt:lpstr>Gear Drives</vt:lpstr>
      <vt:lpstr>Customer Churn Prediction Using Machine Learning Models</vt:lpstr>
      <vt:lpstr>Problem Statement</vt:lpstr>
      <vt:lpstr>Dataset</vt:lpstr>
      <vt:lpstr>Data Preprocessing</vt:lpstr>
      <vt:lpstr>Methods</vt:lpstr>
      <vt:lpstr>Results</vt:lpstr>
      <vt:lpstr>Feature Importance</vt:lpstr>
      <vt:lpstr>Recommendations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Sean</cp:lastModifiedBy>
  <cp:revision>4</cp:revision>
  <dcterms:created xsi:type="dcterms:W3CDTF">2013-01-27T09:14:00Z</dcterms:created>
  <dcterms:modified xsi:type="dcterms:W3CDTF">2026-07-05T12:34:02Z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DA48A3FB0E014CBE991F38A48BD00ACF_12</vt:lpwstr>
  </property>
  <property fmtid="{D5CDD505-2E9C-101B-9397-08002B2CF9AE}" pid="3" name="KSOProductBuildVer">
    <vt:lpwstr>2057-12.2.0.23206</vt:lpwstr>
  </property>
</Properties>
</file>